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grandir Narrow" panose="020B0604020202020204" charset="0"/>
      <p:regular r:id="rId9"/>
    </p:embeddedFont>
    <p:embeddedFont>
      <p:font typeface="Agrandir Narrow Bold" panose="020B0604020202020204" charset="0"/>
      <p:regular r:id="rId10"/>
    </p:embeddedFont>
    <p:embeddedFont>
      <p:font typeface="Agrandir Narrow Ultra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1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3" name="Group 3"/>
          <p:cNvGrpSpPr/>
          <p:nvPr/>
        </p:nvGrpSpPr>
        <p:grpSpPr>
          <a:xfrm>
            <a:off x="1216391" y="561682"/>
            <a:ext cx="15855218" cy="8083624"/>
            <a:chOff x="0" y="0"/>
            <a:chExt cx="4175860" cy="2129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324416" y="-772712"/>
            <a:ext cx="5316969" cy="5742674"/>
          </a:xfrm>
          <a:custGeom>
            <a:avLst/>
            <a:gdLst/>
            <a:ahLst/>
            <a:cxnLst/>
            <a:rect l="l" t="t" r="r" b="b"/>
            <a:pathLst>
              <a:path w="5316969" h="5742674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>
            <a:off x="13064234" y="6815314"/>
            <a:ext cx="5083846" cy="5636607"/>
          </a:xfrm>
          <a:custGeom>
            <a:avLst/>
            <a:gdLst/>
            <a:ahLst/>
            <a:cxnLst/>
            <a:rect l="l" t="t" r="r" b="b"/>
            <a:pathLst>
              <a:path w="5083846" h="5636607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 rot="2699999" flipV="1">
            <a:off x="-17625" y="686291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 rot="10334739">
            <a:off x="15478511" y="-716566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 rot="-9100323">
            <a:off x="10399881" y="-2500645"/>
            <a:ext cx="5328706" cy="5001289"/>
          </a:xfrm>
          <a:custGeom>
            <a:avLst/>
            <a:gdLst/>
            <a:ahLst/>
            <a:cxnLst/>
            <a:rect l="l" t="t" r="r" b="b"/>
            <a:pathLst>
              <a:path w="5328706" h="5001289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TextBox 11"/>
          <p:cNvSpPr txBox="1"/>
          <p:nvPr/>
        </p:nvSpPr>
        <p:spPr>
          <a:xfrm>
            <a:off x="3081369" y="1049380"/>
            <a:ext cx="12014236" cy="423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5161" b="1" dirty="0">
                <a:solidFill>
                  <a:srgbClr val="043576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PERCEPCIÓN ESTUDIANTIL SOBRE LA DEFICIENCIA EN LOS SISTEMAS DE PAGO Y GESTIÓN ACADÉMICA (SIGAU) EN LA UNIVERSIDAD NACIONAL DE SAN MARTÍN - PERÚ EN EL PERIODO 2026-I.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6890" y="186965"/>
            <a:ext cx="2590460" cy="2590460"/>
          </a:xfrm>
          <a:custGeom>
            <a:avLst/>
            <a:gdLst/>
            <a:ahLst/>
            <a:cxnLst/>
            <a:rect l="l" t="t" r="r" b="b"/>
            <a:pathLst>
              <a:path w="2590460" h="2590460">
                <a:moveTo>
                  <a:pt x="0" y="0"/>
                </a:moveTo>
                <a:lnTo>
                  <a:pt x="2590459" y="0"/>
                </a:lnTo>
                <a:lnTo>
                  <a:pt x="2590459" y="2590459"/>
                </a:lnTo>
                <a:lnTo>
                  <a:pt x="0" y="25904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>
            <a:off x="15040093" y="0"/>
            <a:ext cx="3247907" cy="3247907"/>
          </a:xfrm>
          <a:custGeom>
            <a:avLst/>
            <a:gdLst/>
            <a:ahLst/>
            <a:cxnLst/>
            <a:rect l="l" t="t" r="r" b="b"/>
            <a:pathLst>
              <a:path w="3247907" h="3247907">
                <a:moveTo>
                  <a:pt x="0" y="0"/>
                </a:moveTo>
                <a:lnTo>
                  <a:pt x="3247907" y="0"/>
                </a:lnTo>
                <a:lnTo>
                  <a:pt x="3247907" y="3247907"/>
                </a:lnTo>
                <a:lnTo>
                  <a:pt x="0" y="3247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TextBox 14"/>
          <p:cNvSpPr txBox="1"/>
          <p:nvPr/>
        </p:nvSpPr>
        <p:spPr>
          <a:xfrm>
            <a:off x="2944812" y="5439937"/>
            <a:ext cx="12184182" cy="418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Análisis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del </a:t>
            </a: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colapso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de </a:t>
            </a: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pagos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, </a:t>
            </a: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fallas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del SIGAU y </a:t>
            </a: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propuestas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de </a:t>
            </a: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solución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</a:t>
            </a:r>
          </a:p>
          <a:p>
            <a:pPr algn="ctr">
              <a:lnSpc>
                <a:spcPts val="5460"/>
              </a:lnSpc>
            </a:pP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Asignatura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Teoría General De Sistemas.</a:t>
            </a:r>
          </a:p>
          <a:p>
            <a:pPr algn="ctr">
              <a:lnSpc>
                <a:spcPts val="5460"/>
              </a:lnSpc>
            </a:pP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Docente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Ing. Dr. Alberto Alva Arévalo.</a:t>
            </a:r>
          </a:p>
          <a:p>
            <a:pPr algn="ctr">
              <a:lnSpc>
                <a:spcPts val="5460"/>
              </a:lnSpc>
            </a:pPr>
            <a:r>
              <a:rPr lang="en-US" sz="3900" dirty="0" err="1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Alumno</a:t>
            </a: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: Fatima Esther Sandoval Ramirez.</a:t>
            </a:r>
          </a:p>
          <a:p>
            <a:pPr algn="ctr">
              <a:lnSpc>
                <a:spcPts val="5460"/>
              </a:lnSpc>
            </a:pPr>
            <a:r>
              <a:rPr lang="en-US" sz="3900" dirty="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Morales-Peru-2026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3" name="Group 3"/>
          <p:cNvGrpSpPr/>
          <p:nvPr/>
        </p:nvGrpSpPr>
        <p:grpSpPr>
          <a:xfrm>
            <a:off x="1216391" y="1101688"/>
            <a:ext cx="15855218" cy="8083624"/>
            <a:chOff x="0" y="0"/>
            <a:chExt cx="4175860" cy="2129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514303" y="449904"/>
            <a:ext cx="5316969" cy="5742674"/>
          </a:xfrm>
          <a:custGeom>
            <a:avLst/>
            <a:gdLst/>
            <a:ahLst/>
            <a:cxnLst/>
            <a:rect l="l" t="t" r="r" b="b"/>
            <a:pathLst>
              <a:path w="5316969" h="5742674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 rot="2699999" flipV="1">
            <a:off x="14352534" y="536611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3054513" y="447519"/>
            <a:ext cx="13146626" cy="246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3"/>
              </a:lnSpc>
            </a:pPr>
            <a:r>
              <a:rPr lang="en-US" sz="6552" b="1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¿Trámite ágil o carrera de obstáculos?</a:t>
            </a:r>
          </a:p>
        </p:txBody>
      </p:sp>
      <p:sp>
        <p:nvSpPr>
          <p:cNvPr id="9" name="Freeform 9"/>
          <p:cNvSpPr/>
          <p:nvPr/>
        </p:nvSpPr>
        <p:spPr>
          <a:xfrm>
            <a:off x="14074753" y="449904"/>
            <a:ext cx="3839165" cy="4256593"/>
          </a:xfrm>
          <a:custGeom>
            <a:avLst/>
            <a:gdLst/>
            <a:ahLst/>
            <a:cxnLst/>
            <a:rect l="l" t="t" r="r" b="b"/>
            <a:pathLst>
              <a:path w="3839165" h="4256593">
                <a:moveTo>
                  <a:pt x="0" y="0"/>
                </a:moveTo>
                <a:lnTo>
                  <a:pt x="3839165" y="0"/>
                </a:lnTo>
                <a:lnTo>
                  <a:pt x="3839165" y="4256594"/>
                </a:lnTo>
                <a:lnTo>
                  <a:pt x="0" y="4256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>
            <a:off x="13168793" y="2200630"/>
            <a:ext cx="2825542" cy="2241223"/>
          </a:xfrm>
          <a:custGeom>
            <a:avLst/>
            <a:gdLst/>
            <a:ahLst/>
            <a:cxnLst/>
            <a:rect l="l" t="t" r="r" b="b"/>
            <a:pathLst>
              <a:path w="2825542" h="2241223">
                <a:moveTo>
                  <a:pt x="0" y="0"/>
                </a:moveTo>
                <a:lnTo>
                  <a:pt x="2825542" y="0"/>
                </a:lnTo>
                <a:lnTo>
                  <a:pt x="2825542" y="2241223"/>
                </a:lnTo>
                <a:lnTo>
                  <a:pt x="0" y="2241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>
            <a:off x="13125227" y="4935285"/>
            <a:ext cx="3052315" cy="1907021"/>
          </a:xfrm>
          <a:custGeom>
            <a:avLst/>
            <a:gdLst/>
            <a:ahLst/>
            <a:cxnLst/>
            <a:rect l="l" t="t" r="r" b="b"/>
            <a:pathLst>
              <a:path w="3052315" h="1907021">
                <a:moveTo>
                  <a:pt x="0" y="0"/>
                </a:moveTo>
                <a:lnTo>
                  <a:pt x="3052314" y="0"/>
                </a:lnTo>
                <a:lnTo>
                  <a:pt x="3052314" y="1907021"/>
                </a:lnTo>
                <a:lnTo>
                  <a:pt x="0" y="1907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Freeform 12"/>
          <p:cNvSpPr/>
          <p:nvPr/>
        </p:nvSpPr>
        <p:spPr>
          <a:xfrm>
            <a:off x="13573610" y="7207852"/>
            <a:ext cx="2420726" cy="2420726"/>
          </a:xfrm>
          <a:custGeom>
            <a:avLst/>
            <a:gdLst/>
            <a:ahLst/>
            <a:cxnLst/>
            <a:rect l="l" t="t" r="r" b="b"/>
            <a:pathLst>
              <a:path w="2420726" h="2420726">
                <a:moveTo>
                  <a:pt x="0" y="0"/>
                </a:moveTo>
                <a:lnTo>
                  <a:pt x="2420725" y="0"/>
                </a:lnTo>
                <a:lnTo>
                  <a:pt x="2420725" y="2420726"/>
                </a:lnTo>
                <a:lnTo>
                  <a:pt x="0" y="242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TextBox 13"/>
          <p:cNvSpPr txBox="1"/>
          <p:nvPr/>
        </p:nvSpPr>
        <p:spPr>
          <a:xfrm>
            <a:off x="1839942" y="6421052"/>
            <a:ext cx="9023663" cy="150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Incertidumbre digital: El pago no se valida al instante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9942" y="2815053"/>
            <a:ext cx="5421394" cy="150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Doble cuello de botella: Banco vs. Campus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39942" y="4693978"/>
            <a:ext cx="6947859" cy="149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A3AD1E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Impacto directo: Desgaste físico y riesgo académico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rot="2699999" flipV="1">
            <a:off x="-2567721" y="191965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2699999" flipV="1">
            <a:off x="4706730" y="7354032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8"/>
                </a:moveTo>
                <a:lnTo>
                  <a:pt x="5813533" y="6104208"/>
                </a:lnTo>
                <a:lnTo>
                  <a:pt x="5813533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 rot="2699999" flipV="1">
            <a:off x="8458754" y="-261583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8"/>
                </a:moveTo>
                <a:lnTo>
                  <a:pt x="5813532" y="6104208"/>
                </a:lnTo>
                <a:lnTo>
                  <a:pt x="5813532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 rot="2699999" flipV="1">
            <a:off x="16354676" y="3586019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7" name="Group 7"/>
          <p:cNvGrpSpPr/>
          <p:nvPr/>
        </p:nvGrpSpPr>
        <p:grpSpPr>
          <a:xfrm>
            <a:off x="1216391" y="1101688"/>
            <a:ext cx="15855218" cy="8083624"/>
            <a:chOff x="0" y="0"/>
            <a:chExt cx="4175860" cy="21290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99939" y="1537464"/>
            <a:ext cx="11764339" cy="374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40"/>
              </a:lnSpc>
            </a:pPr>
            <a:r>
              <a:rPr lang="en-US" sz="9957" b="1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Pago presencial y exposición al sol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87958" y="5151698"/>
            <a:ext cx="8712084" cy="211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105" lvl="1" indent="-316053" algn="ctr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Filas de varias horas a la intemperie</a:t>
            </a:r>
          </a:p>
          <a:p>
            <a:pPr marL="632105" lvl="1" indent="-316053" algn="ctr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Temperaturas sobre los 30 °C y alta radiación UV</a:t>
            </a:r>
          </a:p>
          <a:p>
            <a:pPr marL="632105" lvl="1" indent="-316053" algn="ctr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Falta de sombra, asientos y orden preferencial</a:t>
            </a:r>
          </a:p>
          <a:p>
            <a:pPr algn="just">
              <a:lnSpc>
                <a:spcPts val="4098"/>
              </a:lnSpc>
            </a:pPr>
            <a:endParaRPr lang="en-US" sz="2927">
              <a:solidFill>
                <a:srgbClr val="043576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12" name="Freeform 12"/>
          <p:cNvSpPr/>
          <p:nvPr/>
        </p:nvSpPr>
        <p:spPr>
          <a:xfrm rot="10334739">
            <a:off x="15375277" y="-1406857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 rot="10334739" flipV="1">
            <a:off x="-1525319" y="6513411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5199111"/>
                </a:moveTo>
                <a:lnTo>
                  <a:pt x="5108038" y="5199111"/>
                </a:lnTo>
                <a:lnTo>
                  <a:pt x="5108038" y="0"/>
                </a:lnTo>
                <a:lnTo>
                  <a:pt x="0" y="0"/>
                </a:lnTo>
                <a:lnTo>
                  <a:pt x="0" y="519911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Freeform 14"/>
          <p:cNvSpPr/>
          <p:nvPr/>
        </p:nvSpPr>
        <p:spPr>
          <a:xfrm rot="3420581">
            <a:off x="11804211" y="7367643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5" name="Freeform 15"/>
          <p:cNvSpPr/>
          <p:nvPr/>
        </p:nvSpPr>
        <p:spPr>
          <a:xfrm rot="3420581">
            <a:off x="1356093" y="-3173136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rot="-4255209">
            <a:off x="11935374" y="-1789621"/>
            <a:ext cx="5328706" cy="5001289"/>
          </a:xfrm>
          <a:custGeom>
            <a:avLst/>
            <a:gdLst/>
            <a:ahLst/>
            <a:cxnLst/>
            <a:rect l="l" t="t" r="r" b="b"/>
            <a:pathLst>
              <a:path w="5328706" h="5001289">
                <a:moveTo>
                  <a:pt x="0" y="0"/>
                </a:moveTo>
                <a:lnTo>
                  <a:pt x="5328706" y="0"/>
                </a:lnTo>
                <a:lnTo>
                  <a:pt x="5328706" y="5001289"/>
                </a:lnTo>
                <a:lnTo>
                  <a:pt x="0" y="500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-4255209">
            <a:off x="6479647" y="6757655"/>
            <a:ext cx="5328706" cy="5001289"/>
          </a:xfrm>
          <a:custGeom>
            <a:avLst/>
            <a:gdLst/>
            <a:ahLst/>
            <a:cxnLst/>
            <a:rect l="l" t="t" r="r" b="b"/>
            <a:pathLst>
              <a:path w="5328706" h="5001289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5" name="Group 5"/>
          <p:cNvGrpSpPr/>
          <p:nvPr/>
        </p:nvGrpSpPr>
        <p:grpSpPr>
          <a:xfrm>
            <a:off x="1216391" y="1101688"/>
            <a:ext cx="15855218" cy="8083624"/>
            <a:chOff x="0" y="0"/>
            <a:chExt cx="4175860" cy="21290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570623" y="1069861"/>
            <a:ext cx="11764339" cy="376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El colapso virtual (BBVA y SIGAU)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7958" y="5151698"/>
            <a:ext cx="8712084" cy="263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105" lvl="1" indent="-316053" algn="ctr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BBVA: Saturación en banca móvil y agentes ("sin sistema").</a:t>
            </a:r>
          </a:p>
          <a:p>
            <a:pPr marL="632105" lvl="1" indent="-316053" algn="ctr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SIGAU: Demora en validar abonos, caídas de sesión y cambios de horario imprevistos.</a:t>
            </a:r>
          </a:p>
          <a:p>
            <a:pPr algn="l">
              <a:lnSpc>
                <a:spcPts val="4098"/>
              </a:lnSpc>
            </a:pPr>
            <a:endParaRPr lang="en-US" sz="2927">
              <a:solidFill>
                <a:srgbClr val="043576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28700" y="-3426683"/>
            <a:ext cx="5083846" cy="5636607"/>
          </a:xfrm>
          <a:custGeom>
            <a:avLst/>
            <a:gdLst/>
            <a:ahLst/>
            <a:cxnLst/>
            <a:rect l="l" t="t" r="r" b="b"/>
            <a:pathLst>
              <a:path w="5083846" h="5636607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>
            <a:off x="14717377" y="4255655"/>
            <a:ext cx="5083846" cy="5636607"/>
          </a:xfrm>
          <a:custGeom>
            <a:avLst/>
            <a:gdLst/>
            <a:ahLst/>
            <a:cxnLst/>
            <a:rect l="l" t="t" r="r" b="b"/>
            <a:pathLst>
              <a:path w="5083846" h="5636607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Freeform 12"/>
          <p:cNvSpPr/>
          <p:nvPr/>
        </p:nvSpPr>
        <p:spPr>
          <a:xfrm rot="5554300">
            <a:off x="-683483" y="7783578"/>
            <a:ext cx="5083846" cy="5636607"/>
          </a:xfrm>
          <a:custGeom>
            <a:avLst/>
            <a:gdLst/>
            <a:ahLst/>
            <a:cxnLst/>
            <a:rect l="l" t="t" r="r" b="b"/>
            <a:pathLst>
              <a:path w="5083846" h="5636607">
                <a:moveTo>
                  <a:pt x="0" y="0"/>
                </a:moveTo>
                <a:lnTo>
                  <a:pt x="5083845" y="0"/>
                </a:lnTo>
                <a:lnTo>
                  <a:pt x="5083845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rot="2699999" flipV="1">
            <a:off x="-2567721" y="191965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2699999" flipV="1">
            <a:off x="4706730" y="7354032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8"/>
                </a:moveTo>
                <a:lnTo>
                  <a:pt x="5813533" y="6104208"/>
                </a:lnTo>
                <a:lnTo>
                  <a:pt x="5813533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 rot="2699999" flipV="1">
            <a:off x="8458754" y="-261583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8"/>
                </a:moveTo>
                <a:lnTo>
                  <a:pt x="5813532" y="6104208"/>
                </a:lnTo>
                <a:lnTo>
                  <a:pt x="5813532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 rot="2699999" flipV="1">
            <a:off x="16354676" y="3586019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7" name="Group 7"/>
          <p:cNvGrpSpPr/>
          <p:nvPr/>
        </p:nvGrpSpPr>
        <p:grpSpPr>
          <a:xfrm>
            <a:off x="1216391" y="1101688"/>
            <a:ext cx="15855218" cy="8083624"/>
            <a:chOff x="0" y="0"/>
            <a:chExt cx="4175860" cy="21290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6391" y="1617566"/>
            <a:ext cx="9522839" cy="241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1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Alternativas viables y de rápida aplicación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3844" y="4007389"/>
            <a:ext cx="8712084" cy="520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Billeteras digitales: Integrar Yape y Plin directo con QR.</a:t>
            </a:r>
          </a:p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Atención digna: Trasladar cajas a auditorios techados y con turnos.</a:t>
            </a:r>
          </a:p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Refuerzo del SIGAU: Mayor capacidad de servidores en semana clave.</a:t>
            </a:r>
          </a:p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Horarios fijos y escalonados: Cerrar horarios con anticipación y dividir matrículas por ciclo o facultad.</a:t>
            </a:r>
          </a:p>
          <a:p>
            <a:pPr algn="l">
              <a:lnSpc>
                <a:spcPts val="4098"/>
              </a:lnSpc>
            </a:pPr>
            <a:endParaRPr lang="en-US" sz="2927">
              <a:solidFill>
                <a:srgbClr val="043576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599472" y="436274"/>
            <a:ext cx="6472137" cy="9708205"/>
            <a:chOff x="0" y="0"/>
            <a:chExt cx="6350000" cy="952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4" name="Freeform 14"/>
          <p:cNvSpPr/>
          <p:nvPr/>
        </p:nvSpPr>
        <p:spPr>
          <a:xfrm rot="10334739">
            <a:off x="16525657" y="-1497867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5" name="Freeform 15"/>
          <p:cNvSpPr/>
          <p:nvPr/>
        </p:nvSpPr>
        <p:spPr>
          <a:xfrm rot="10334739" flipV="1">
            <a:off x="-2476594" y="6778883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5199111"/>
                </a:moveTo>
                <a:lnTo>
                  <a:pt x="5108037" y="5199111"/>
                </a:lnTo>
                <a:lnTo>
                  <a:pt x="5108037" y="0"/>
                </a:lnTo>
                <a:lnTo>
                  <a:pt x="0" y="0"/>
                </a:lnTo>
                <a:lnTo>
                  <a:pt x="0" y="519911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6" name="Freeform 16"/>
          <p:cNvSpPr/>
          <p:nvPr/>
        </p:nvSpPr>
        <p:spPr>
          <a:xfrm rot="3420581">
            <a:off x="15122614" y="7699483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8" y="0"/>
                </a:lnTo>
                <a:lnTo>
                  <a:pt x="5108038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 rot="3420581">
            <a:off x="1267602" y="-3173136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8" y="0"/>
                </a:lnTo>
                <a:lnTo>
                  <a:pt x="5108038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-529011" y="0"/>
            <a:ext cx="5316969" cy="5742674"/>
          </a:xfrm>
          <a:custGeom>
            <a:avLst/>
            <a:gdLst/>
            <a:ahLst/>
            <a:cxnLst/>
            <a:rect l="l" t="t" r="r" b="b"/>
            <a:pathLst>
              <a:path w="5316969" h="5742674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-3812791">
            <a:off x="7403917" y="6386963"/>
            <a:ext cx="5316969" cy="5742674"/>
          </a:xfrm>
          <a:custGeom>
            <a:avLst/>
            <a:gdLst/>
            <a:ahLst/>
            <a:cxnLst/>
            <a:rect l="l" t="t" r="r" b="b"/>
            <a:pathLst>
              <a:path w="5316969" h="5742674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>
            <a:off x="15392011" y="7073958"/>
            <a:ext cx="3734578" cy="4033588"/>
          </a:xfrm>
          <a:custGeom>
            <a:avLst/>
            <a:gdLst/>
            <a:ahLst/>
            <a:cxnLst/>
            <a:rect l="l" t="t" r="r" b="b"/>
            <a:pathLst>
              <a:path w="3734578" h="4033588">
                <a:moveTo>
                  <a:pt x="0" y="0"/>
                </a:moveTo>
                <a:lnTo>
                  <a:pt x="3734578" y="0"/>
                </a:lnTo>
                <a:lnTo>
                  <a:pt x="3734578" y="4033588"/>
                </a:lnTo>
                <a:lnTo>
                  <a:pt x="0" y="4033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6" name="Group 6"/>
          <p:cNvGrpSpPr/>
          <p:nvPr/>
        </p:nvGrpSpPr>
        <p:grpSpPr>
          <a:xfrm>
            <a:off x="1216391" y="1101688"/>
            <a:ext cx="15855218" cy="8083624"/>
            <a:chOff x="0" y="0"/>
            <a:chExt cx="4175860" cy="2129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255209">
            <a:off x="13667775" y="-1498280"/>
            <a:ext cx="5328706" cy="5001289"/>
          </a:xfrm>
          <a:custGeom>
            <a:avLst/>
            <a:gdLst/>
            <a:ahLst/>
            <a:cxnLst/>
            <a:rect l="l" t="t" r="r" b="b"/>
            <a:pathLst>
              <a:path w="5328706" h="5001289">
                <a:moveTo>
                  <a:pt x="0" y="0"/>
                </a:moveTo>
                <a:lnTo>
                  <a:pt x="5328706" y="0"/>
                </a:lnTo>
                <a:lnTo>
                  <a:pt x="5328706" y="5001289"/>
                </a:lnTo>
                <a:lnTo>
                  <a:pt x="0" y="5001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 rot="-4255209">
            <a:off x="-101734" y="6757655"/>
            <a:ext cx="5328706" cy="5001289"/>
          </a:xfrm>
          <a:custGeom>
            <a:avLst/>
            <a:gdLst/>
            <a:ahLst/>
            <a:cxnLst/>
            <a:rect l="l" t="t" r="r" b="b"/>
            <a:pathLst>
              <a:path w="5328706" h="5001289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144000" y="4525985"/>
            <a:ext cx="8884333" cy="5095946"/>
            <a:chOff x="0" y="0"/>
            <a:chExt cx="7981950" cy="4578350"/>
          </a:xfrm>
        </p:grpSpPr>
        <p:sp>
          <p:nvSpPr>
            <p:cNvPr id="12" name="Freeform 12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-7890" r="-789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87020" y="1448975"/>
            <a:ext cx="8103690" cy="128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60"/>
              </a:lnSpc>
            </a:pPr>
            <a:r>
              <a:rPr lang="en-US" sz="6400" b="1">
                <a:solidFill>
                  <a:srgbClr val="A3AD1E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Conclusiones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7020" y="2893309"/>
            <a:ext cx="9049444" cy="36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La salud del alumno debe ser prioridad en la logística presencial.</a:t>
            </a:r>
          </a:p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La modernización y diversificación de pagos es urgente.</a:t>
            </a:r>
          </a:p>
          <a:p>
            <a:pPr marL="632105" lvl="1" indent="-316053" algn="l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Con planificación y voluntad organizativa, el problema es evitable.</a:t>
            </a:r>
          </a:p>
          <a:p>
            <a:pPr algn="l">
              <a:lnSpc>
                <a:spcPts val="4098"/>
              </a:lnSpc>
            </a:pPr>
            <a:endParaRPr lang="en-US" sz="2927">
              <a:solidFill>
                <a:srgbClr val="043576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3" name="Group 3"/>
          <p:cNvGrpSpPr/>
          <p:nvPr/>
        </p:nvGrpSpPr>
        <p:grpSpPr>
          <a:xfrm>
            <a:off x="1216391" y="1101688"/>
            <a:ext cx="15855218" cy="8083624"/>
            <a:chOff x="0" y="0"/>
            <a:chExt cx="4175860" cy="2129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5860" cy="2129020"/>
            </a:xfrm>
            <a:custGeom>
              <a:avLst/>
              <a:gdLst/>
              <a:ahLst/>
              <a:cxnLst/>
              <a:rect l="l" t="t" r="r" b="b"/>
              <a:pathLst>
                <a:path w="4175860" h="212902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324416" y="-772712"/>
            <a:ext cx="5316969" cy="5742674"/>
          </a:xfrm>
          <a:custGeom>
            <a:avLst/>
            <a:gdLst/>
            <a:ahLst/>
            <a:cxnLst/>
            <a:rect l="l" t="t" r="r" b="b"/>
            <a:pathLst>
              <a:path w="5316969" h="5742674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>
            <a:off x="13064234" y="6815314"/>
            <a:ext cx="5083846" cy="5636607"/>
          </a:xfrm>
          <a:custGeom>
            <a:avLst/>
            <a:gdLst/>
            <a:ahLst/>
            <a:cxnLst/>
            <a:rect l="l" t="t" r="r" b="b"/>
            <a:pathLst>
              <a:path w="5083846" h="5636607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 rot="2699999" flipV="1">
            <a:off x="-17625" y="6862910"/>
            <a:ext cx="5813532" cy="6104209"/>
          </a:xfrm>
          <a:custGeom>
            <a:avLst/>
            <a:gdLst/>
            <a:ahLst/>
            <a:cxnLst/>
            <a:rect l="l" t="t" r="r" b="b"/>
            <a:pathLst>
              <a:path w="5813532" h="6104209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 rot="10334739">
            <a:off x="15478511" y="-716566"/>
            <a:ext cx="5108037" cy="5199111"/>
          </a:xfrm>
          <a:custGeom>
            <a:avLst/>
            <a:gdLst/>
            <a:ahLst/>
            <a:cxnLst/>
            <a:rect l="l" t="t" r="r" b="b"/>
            <a:pathLst>
              <a:path w="5108037" h="5199111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 rot="-9100323">
            <a:off x="10399881" y="-2500645"/>
            <a:ext cx="5328706" cy="5001289"/>
          </a:xfrm>
          <a:custGeom>
            <a:avLst/>
            <a:gdLst/>
            <a:ahLst/>
            <a:cxnLst/>
            <a:rect l="l" t="t" r="r" b="b"/>
            <a:pathLst>
              <a:path w="5328706" h="5001289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TextBox 11"/>
          <p:cNvSpPr txBox="1"/>
          <p:nvPr/>
        </p:nvSpPr>
        <p:spPr>
          <a:xfrm>
            <a:off x="3912692" y="3496110"/>
            <a:ext cx="10462617" cy="305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71"/>
              </a:lnSpc>
            </a:pPr>
            <a:r>
              <a:rPr lang="en-US" sz="945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¡Gracias por </a:t>
            </a:r>
          </a:p>
          <a:p>
            <a:pPr algn="ctr">
              <a:lnSpc>
                <a:spcPts val="10971"/>
              </a:lnSpc>
            </a:pPr>
            <a:r>
              <a:rPr lang="en-US" sz="945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su atención!</a:t>
            </a: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268</Words>
  <Application>Microsoft Office PowerPoint</Application>
  <PresentationFormat>Personalizado</PresentationFormat>
  <Paragraphs>28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Agrandir Narrow Ultra-Bold</vt:lpstr>
      <vt:lpstr>Arial</vt:lpstr>
      <vt:lpstr>Agrandir Narrow Bold</vt:lpstr>
      <vt:lpstr>Agrandir Narrow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Exposicion Fatima Sandoval</dc:title>
  <cp:lastModifiedBy>Fatima Esther Sandoval Ramirez</cp:lastModifiedBy>
  <cp:revision>7</cp:revision>
  <dcterms:created xsi:type="dcterms:W3CDTF">2006-08-16T00:00:00Z</dcterms:created>
  <dcterms:modified xsi:type="dcterms:W3CDTF">2026-09-10T22:25:45Z</dcterms:modified>
  <dc:identifier>DAHULh5mfag</dc:identifier>
</cp:coreProperties>
</file>